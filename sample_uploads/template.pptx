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revenue, Q1 baseline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Revenue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3.8</c:v>
                </c:pt>
                <c:pt idx="2">
                  <c:v>4.0</c:v>
                </c:pt>
                <c:pt idx="3">
                  <c:v>3.9</c:v>
                </c:pt>
                <c:pt idx="4">
                  <c:v>4.1</c:v>
                </c:pt>
                <c:pt idx="5">
                  <c:v>4.4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00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Q1 2026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Revenue momentum, customer health, and operating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23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Prepared for Board of Directors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15000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Q1 closed with $12.4M revenue and 64% gross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99632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Aptos"/>
              </a:rPr>
              <a:t>Template anchor: replace this slide with the latest quarter narrative.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CONFIDENTIAL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F2038"/>
                </a:solidFill>
                <a:latin typeface="Aptos"/>
              </a:rPr>
              <a:t>Executive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93192"/>
            <a:ext cx="1234440" cy="3200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606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81912"/>
            <a:ext cx="2276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56232"/>
            <a:ext cx="2276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57A4"/>
                </a:solidFill>
                <a:latin typeface="Aptos"/>
              </a:rPr>
              <a:t>$12.4M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13432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+8% QoQ in Q1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606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81912"/>
            <a:ext cx="2276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56232"/>
            <a:ext cx="2276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4B8A6"/>
                </a:solidFill>
                <a:latin typeface="Aptos"/>
              </a:rPr>
              <a:t>64%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13432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+2 pts vs Q4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606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581912"/>
            <a:ext cx="2276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Net revenue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856232"/>
            <a:ext cx="2276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58220"/>
                </a:solidFill>
                <a:latin typeface="Aptos"/>
              </a:rPr>
              <a:t>111%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313432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Enterprise expansion 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17320"/>
            <a:ext cx="2606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1581912"/>
            <a:ext cx="2276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Pipeline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1856232"/>
            <a:ext cx="2276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57A4"/>
                </a:solidFill>
                <a:latin typeface="Aptos"/>
              </a:rPr>
              <a:t>2.8x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313432"/>
            <a:ext cx="2276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Q2 target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63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038"/>
                </a:solidFill>
                <a:latin typeface="Aptos"/>
              </a:rPr>
              <a:t>Q1 headline: efficient growth continued, but enterprise conversion timing remained the main constraint.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94760"/>
            <a:ext cx="5166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038"/>
                </a:solidFill>
                <a:latin typeface="Aptos"/>
              </a:rPr>
              <a:t>Key observations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Enterprise ARR expanded 14% sequentially.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SMB churn remained elevated at 3.1% monthly.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Marketing CAC improved but sales cycle lengthened by 9 days.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Hiring stayed within the approved operating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794760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038"/>
                </a:solidFill>
                <a:latin typeface="Aptos"/>
              </a:rPr>
              <a:t>Management asks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Approve additional enterprise solution-engineering capacity.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Keep Q2 discretionary spend gated by pipeline conversion.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Revisit SMB packaging if churn remains above 2.5%.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Acme Growth Co. | Board Review Template | Q1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47395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For internal planning discussion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CONFIDENTIAL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F2038"/>
                </a:solidFill>
                <a:latin typeface="Aptos"/>
              </a:rPr>
              <a:t>Revenue trend and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93192"/>
            <a:ext cx="1234440" cy="3200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6629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141732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38"/>
                </a:solidFill>
                <a:latin typeface="Aptos"/>
              </a:rPr>
              <a:t>Q1 revenue closed at $12.4M, below the stretch case but ahead of the board-approved base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68880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2038"/>
                </a:solidFill>
                <a:latin typeface="Aptos"/>
              </a:rPr>
              <a:t>Forecast notes</a:t>
            </a:r>
            <a:br/>
            <a:r>
              <a:rPr sz="1300" b="0">
                <a:solidFill>
                  <a:srgbClr val="0F2038"/>
                </a:solidFill>
                <a:latin typeface="Aptos"/>
              </a:rPr>
              <a:t>- March rebound came from two enterprise expansions.</a:t>
            </a:r>
            <a:br/>
            <a:r>
              <a:rPr sz="1300" b="0">
                <a:solidFill>
                  <a:srgbClr val="0F2038"/>
                </a:solidFill>
                <a:latin typeface="Aptos"/>
              </a:rPr>
              <a:t>- New logo conversion was slower than planned.</a:t>
            </a:r>
            <a:br/>
            <a:r>
              <a:rPr sz="1300" b="0">
                <a:solidFill>
                  <a:srgbClr val="0F2038"/>
                </a:solidFill>
                <a:latin typeface="Aptos"/>
              </a:rPr>
              <a:t>- Q2 forecast assumes no material price increase.</a:t>
            </a:r>
            <a:br/>
            <a:r>
              <a:rPr sz="1300" b="0">
                <a:solidFill>
                  <a:srgbClr val="0F2038"/>
                </a:solidFill>
                <a:latin typeface="Aptos"/>
              </a:rPr>
              <a:t>- Upside depends on healthcare and fintech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Acme Growth Co. | Board Review Template | Q1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7395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For internal planning discussion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CONFIDENTIAL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F2038"/>
                </a:solidFill>
                <a:latin typeface="Aptos"/>
              </a:rP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93192"/>
            <a:ext cx="1234440" cy="3200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789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4846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Segment</a:t>
                      </a:r>
                    </a:p>
                  </a:txBody>
                  <a:tcPr marL="45720">
                    <a:solidFill>
                      <a:srgbClr val="0057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Q1 Revenue</a:t>
                      </a:r>
                    </a:p>
                  </a:txBody>
                  <a:tcPr marL="45720">
                    <a:solidFill>
                      <a:srgbClr val="0057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QoQ Growth</a:t>
                      </a:r>
                    </a:p>
                  </a:txBody>
                  <a:tcPr marL="45720">
                    <a:solidFill>
                      <a:srgbClr val="0057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Gross Margin</a:t>
                      </a:r>
                    </a:p>
                  </a:txBody>
                  <a:tcPr marL="45720">
                    <a:solidFill>
                      <a:srgbClr val="0057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Commentary</a:t>
                      </a:r>
                    </a:p>
                  </a:txBody>
                  <a:tcPr marL="45720">
                    <a:solidFill>
                      <a:srgbClr val="0057A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038"/>
                          </a:solidFill>
                          <a:latin typeface="Aptos"/>
                        </a:rPr>
                        <a:t>Enterprise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$6.8M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+14%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71%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Expansion-led growth</a:t>
                      </a:r>
                    </a:p>
                  </a:txBody>
                  <a:tcPr marL="45720"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038"/>
                          </a:solidFill>
                          <a:latin typeface="Aptos"/>
                        </a:rPr>
                        <a:t>Mid-market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$3.7M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+6%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63%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Stable demand</a:t>
                      </a:r>
                    </a:p>
                  </a:txBody>
                  <a:tcPr marL="45720"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038"/>
                          </a:solidFill>
                          <a:latin typeface="Aptos"/>
                        </a:rPr>
                        <a:t>SMB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$1.9M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-3%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49%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Churn pressure</a:t>
                      </a:r>
                    </a:p>
                  </a:txBody>
                  <a:tcPr marL="45720"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F2038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$12.4M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+8%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64%</a:t>
                      </a:r>
                    </a:p>
                  </a:txBody>
                  <a:tcPr marL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F2038"/>
                          </a:solidFill>
                          <a:latin typeface="Aptos"/>
                        </a:rPr>
                        <a:t>Mixed but improving</a:t>
                      </a:r>
                    </a:p>
                  </a:txBody>
                  <a:tcPr marL="4572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206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038"/>
                </a:solidFill>
                <a:latin typeface="Aptos"/>
              </a:rPr>
              <a:t>Q1 segment readout showed enterprise quality improving while SMB economics remained below threshold.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Decision lens: prioritize segments with durable margin expansion and lower support burden.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Acme Growth Co. | Board Review Template | Q1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7395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For internal planning discussion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CONFIDENTIAL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F2038"/>
                </a:solidFill>
                <a:latin typeface="Aptos"/>
              </a:rPr>
              <a:t>Risks, mitigations, and operating watchlist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93192"/>
            <a:ext cx="1234440" cy="3200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2038"/>
                </a:solidFill>
                <a:latin typeface="Aptos"/>
              </a:rPr>
              <a:t>Q1 risk posture remained manageable, with customer concentration and SMB churn requiring continued 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038"/>
                </a:solidFill>
                <a:latin typeface="Aptos"/>
              </a:rPr>
              <a:t>Risk register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Enterprise deals are concentrated in 6 named accounts.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SMB churn may offset self-serve acquisition gains.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Cloud infrastructure cost could rise with AI usage.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Hiring delays may constrain implementation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65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038"/>
                </a:solidFill>
                <a:latin typeface="Aptos"/>
              </a:rPr>
              <a:t>Mitigation plan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Expand executive sponsor coverage for top accounts.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Launch SMB onboarding redesign before end of Q2.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Add usage-based cost guardrails to AI workloads.</a:t>
            </a:r>
            <a:br/>
            <a:r>
              <a:rPr sz="1400" b="0">
                <a:solidFill>
                  <a:srgbClr val="0F2038"/>
                </a:solidFill>
                <a:latin typeface="Aptos"/>
              </a:rPr>
              <a:t>- Pull forward two implementation hires if bookings convert.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7A4"/>
                </a:solidFill>
                <a:latin typeface="Aptos"/>
              </a:rPr>
              <a:t>Board discussion: Should management continue trading SMB growth for enterprise focus in Q2?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Acme Growth Co. | Board Review Template | Q1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7395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For internal planning discussion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CONFIDENTIAL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F2038"/>
                </a:solidFill>
                <a:latin typeface="Aptos"/>
              </a:rPr>
              <a:t>Q2 priorities and decision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93192"/>
            <a:ext cx="1234440" cy="3200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Q1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038"/>
                </a:solidFill>
                <a:latin typeface="Aptos"/>
              </a:rPr>
              <a:t>Q1-to-Q2 operating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2038"/>
                </a:solidFill>
                <a:latin typeface="Aptos"/>
              </a:rPr>
              <a:t>1. Convert enterprise late-stage pipeline</a:t>
            </a:r>
            <a:br/>
            <a:r>
              <a:rPr sz="1600" b="0">
                <a:solidFill>
                  <a:srgbClr val="0F2038"/>
                </a:solidFill>
                <a:latin typeface="Aptos"/>
              </a:rPr>
              <a:t>2. Improve SMB onboarding and retention</a:t>
            </a:r>
            <a:br/>
            <a:r>
              <a:rPr sz="1600" b="0">
                <a:solidFill>
                  <a:srgbClr val="0F2038"/>
                </a:solidFill>
                <a:latin typeface="Aptos"/>
              </a:rPr>
              <a:t>3. Protect margin while scaling AI features</a:t>
            </a:r>
            <a:br/>
            <a:r>
              <a:rPr sz="1600" b="0">
                <a:solidFill>
                  <a:srgbClr val="0F2038"/>
                </a:solidFill>
                <a:latin typeface="Aptos"/>
              </a:rPr>
              <a:t>4. Maintain hiring discipline against revenue proof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2038"/>
                </a:solidFill>
                <a:latin typeface="Aptos"/>
              </a:rPr>
              <a:t>Q1 decision requests</a:t>
            </a:r>
            <a:br/>
            <a:r>
              <a:rPr sz="1500" b="0">
                <a:solidFill>
                  <a:srgbClr val="0F2038"/>
                </a:solidFill>
                <a:latin typeface="Aptos"/>
              </a:rPr>
              <a:t>- Approve $420K incremental enterprise GTM capacity.</a:t>
            </a:r>
            <a:br/>
            <a:r>
              <a:rPr sz="1500" b="0">
                <a:solidFill>
                  <a:srgbClr val="0F2038"/>
                </a:solidFill>
                <a:latin typeface="Aptos"/>
              </a:rPr>
              <a:t>- Hold Q2 brand spend until pipeline conversion improves.</a:t>
            </a:r>
            <a:br/>
            <a:r>
              <a:rPr sz="1500" b="0">
                <a:solidFill>
                  <a:srgbClr val="0F2038"/>
                </a:solidFill>
                <a:latin typeface="Aptos"/>
              </a:rPr>
              <a:t>- Confirm risk appetite for AI feature infrastructure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7A4"/>
                </a:solidFill>
                <a:latin typeface="Aptos"/>
              </a:rPr>
              <a:t>Expected Q2 board update: conversion quality, retention progress, and infrastructure cost envelope.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ptos"/>
              </a:rPr>
              <a:t>Acme Growth Co. | Board Review Template | Q1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7395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48B"/>
                </a:solidFill>
                <a:latin typeface="Aptos"/>
              </a:rPr>
              <a:t>For internal planning discussion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